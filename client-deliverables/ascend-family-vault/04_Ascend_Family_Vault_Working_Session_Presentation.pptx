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validating the origin story, then set the decision standard out loud. Nothing on the agenda requires approving a finished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the extension only if the core two hours produced their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debate the vision here. Establish the facts, then let the facts choose the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Isaiah owns the inventory. One hour a week is enough to document, not to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Eric for quantity, deposit terms, decision maker and the licensing pathway before any price is confirmed.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Listening conversations come before any fundraising request. Consent is the product problem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engine is the asset. Each proving ground stresses a different part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of this slide is the parking, not the ranking. Get an explicit "we are not doing this yet".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right-hand column is the more valuable half of this slide. Get agreement on the exclusions.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language guardrail out loud. It is the sentence that protects the brand and the client relationship.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Serena’s confidentiality status and ongoing role need an explicit answer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October 10 Morehouse Homecoming is a structured field test, not a launch or a fundraising event.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the board in order. Park anything that cannot be resolved with an owner and a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close question. The answer becomes the first line of the decision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E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704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WORKING SESSION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72768"/>
            <a:ext cx="7680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Ascend Family Vault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8716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broad concept to a focused 90-day validation plan.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3200400"/>
            <a:ext cx="5394960" cy="10973"/>
          </a:xfrm>
          <a:prstGeom prst="rect">
            <a:avLst/>
          </a:prstGeom>
          <a:solidFill>
            <a:srgbClr val="1E3C63"/>
          </a:solidFill>
          <a:ln w="12700">
            <a:solidFill>
              <a:srgbClr val="1E3C6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4564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8FA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2267712" y="34564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Thursday, August 27, 2026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856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8FA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ROOM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2267712" y="378561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Eric Rice · Isaiah Harrison · Dana Ammons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114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8FA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OBSERVING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2267712" y="41148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Serena Boykin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0" y="1572768"/>
            <a:ext cx="3849624" cy="3035808"/>
          </a:xfrm>
          <a:prstGeom prst="rect">
            <a:avLst/>
          </a:prstGeom>
          <a:solidFill>
            <a:srgbClr val="0B2D57"/>
          </a:solidFill>
          <a:ln w="9525">
            <a:solidFill>
              <a:srgbClr val="1E3C6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28432" y="179222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TODAY’S DECISION STANDARD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028432" y="2066544"/>
            <a:ext cx="333756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one commercial pilot, one complete product workflow, clear risk boundaries, and named ownership for the next seven days.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not approving a platform architecture today.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8FA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ASCEND FAMILY VAULT   ·   AUGUST 27, 2026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10524744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40" kern="0" dirty="0">
                <a:solidFill>
                  <a:srgbClr val="8FA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WILL SPEND THE TIME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71E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hours, run to a decision standard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862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block ends with a named output. If a block does not produce its output, it gets an owner and a date rather than more discussion.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956816"/>
            <a:ext cx="11055096" cy="329184"/>
          </a:xfrm>
          <a:prstGeom prst="rect">
            <a:avLst/>
          </a:prstGeom>
          <a:solidFill>
            <a:srgbClr val="071E41"/>
          </a:solidFill>
          <a:ln w="9525">
            <a:solidFill>
              <a:srgbClr val="071E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956816"/>
            <a:ext cx="87668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(ET)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882521" y="1956816"/>
            <a:ext cx="21522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327398" y="1956816"/>
            <a:ext cx="45971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FACILITATOR PROMPT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9217152" y="1956816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OUTPUT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66928" y="2286000"/>
            <a:ext cx="11055096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286000"/>
            <a:ext cx="8766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71E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1:30 – 1:40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882521" y="2286000"/>
            <a:ext cx="21522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and team roles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327398" y="2286000"/>
            <a:ext cx="4597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decisions do Eric, Isaiah and Dana own? What is Serena observing?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217152" y="228600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list and roles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2743200"/>
            <a:ext cx="11055096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2743200"/>
            <a:ext cx="8766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71E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1:40 – 2:00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882521" y="2743200"/>
            <a:ext cx="21522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evidence and origin cases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327398" y="2743200"/>
            <a:ext cx="4597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consent, working capital and coordination break down?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217152" y="274320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pain and pilot criteria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3200400"/>
            <a:ext cx="11055096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200400"/>
            <a:ext cx="8766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71E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2:00 – 2:20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882521" y="3200400"/>
            <a:ext cx="21522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walkthrough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327398" y="3200400"/>
            <a:ext cx="4597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works, what partly works, and what does not work?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9217152" y="320040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Stabilize-versus-rebuild inputs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3657600"/>
            <a:ext cx="11055096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3657600"/>
            <a:ext cx="8766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71E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2:20 – 2:45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882521" y="3657600"/>
            <a:ext cx="21522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entry choice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327398" y="3657600"/>
            <a:ext cx="4597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use case is closest to pain, proof and payment?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217152" y="365760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wedge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6928" y="4114800"/>
            <a:ext cx="11055096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13232" y="4114800"/>
            <a:ext cx="8766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71E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2:45 – 3:10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882521" y="4114800"/>
            <a:ext cx="21522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and guardrails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327398" y="4114800"/>
            <a:ext cx="4597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must the product do — and what must it never imply?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9217152" y="411480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MVP, exclusions and boundaries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66928" y="4572000"/>
            <a:ext cx="11055096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13232" y="4572000"/>
            <a:ext cx="8766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71E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3:10 – 3:25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882521" y="4572000"/>
            <a:ext cx="21522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validation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327398" y="4572000"/>
            <a:ext cx="4597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evidence must the Class of 1997 pilot and the Oklahoma consent test produce?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9217152" y="457200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pilot plan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66928" y="5029200"/>
            <a:ext cx="11055096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13232" y="5029200"/>
            <a:ext cx="8766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71E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3:25 – 3:30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882521" y="5029200"/>
            <a:ext cx="21522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Commitments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4327398" y="5029200"/>
            <a:ext cx="45971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owns what, by when?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9217152" y="502920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Seven-day action list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66928" y="5504688"/>
            <a:ext cx="11055096" cy="749808"/>
          </a:xfrm>
          <a:prstGeom prst="rect">
            <a:avLst/>
          </a:prstGeom>
          <a:solidFill>
            <a:srgbClr val="F5F8FC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59536" y="5687568"/>
            <a:ext cx="10469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0B2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EXTENSION · 3:30 – 4:30 PM ET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859536" y="5943600"/>
            <a:ext cx="10469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B2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Product, team and engagement: technical reality, capacity, working cadence and scope.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ASCEND FAMILY VAULT   ·   AUGUST 27, 2026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10524744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4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EVIDENCE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71E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Eric’s answers changed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862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follow-up answers replaced assumptions with operating facts — and they move the decision.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2048256"/>
            <a:ext cx="3550920" cy="1883664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67712"/>
            <a:ext cx="3038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42032"/>
            <a:ext cx="3038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E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reality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07792"/>
            <a:ext cx="30388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can be created and partly configured. A four-person insurance-bill project exists. App email works.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19016" y="2048256"/>
            <a:ext cx="3550920" cy="1883664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5048" y="2267712"/>
            <a:ext cx="3038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575048" y="2542032"/>
            <a:ext cx="3038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E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operational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5048" y="2907792"/>
            <a:ext cx="30388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is not connected. Vaults, document handling and estate functions are not set up.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71104" y="2048256"/>
            <a:ext cx="3550920" cy="1883664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7136" y="2267712"/>
            <a:ext cx="3038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8327136" y="2542032"/>
            <a:ext cx="3038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E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signal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7136" y="2907792"/>
            <a:ext cx="30388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of 1997 accepted a $75-per-person graduation-box concept, subject to a minimum quantity.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224528"/>
            <a:ext cx="11055096" cy="1298448"/>
          </a:xfrm>
          <a:prstGeom prst="rect">
            <a:avLst/>
          </a:prstGeom>
          <a:solidFill>
            <a:srgbClr val="EFF5FF"/>
          </a:solidFill>
          <a:ln w="9525">
            <a:solidFill>
              <a:srgbClr val="D8E6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" y="4407408"/>
            <a:ext cx="10469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REVISED CONCLUSION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859536" y="4663440"/>
            <a:ext cx="10469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0B2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Ascend is an early functional prototype — not yet a secure, transaction-ready MVP. The fastest validation path is a service-led Class of 1997 pilot paired with a disciplined prototype audit.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ASCEND FAMILY VAULT   ·   AUGUST 27, 2026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0524744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4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READINESS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71E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capability map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862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what the site does today from what is mocked up and what is still an idea.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956816"/>
            <a:ext cx="3550920" cy="1737360"/>
          </a:xfrm>
          <a:prstGeom prst="rect">
            <a:avLst/>
          </a:prstGeom>
          <a:solidFill>
            <a:srgbClr val="EFF5FF"/>
          </a:solidFill>
          <a:ln w="9525">
            <a:solidFill>
              <a:srgbClr val="D8E6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76272"/>
            <a:ext cx="3038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3978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NOW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50592"/>
            <a:ext cx="30388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projects · populate some criteria · receive app emails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19016" y="1956816"/>
            <a:ext cx="3550920" cy="1737360"/>
          </a:xfrm>
          <a:prstGeom prst="rect">
            <a:avLst/>
          </a:prstGeom>
          <a:solidFill>
            <a:srgbClr val="F5F8FC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5048" y="2176272"/>
            <a:ext cx="3038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OR UNKNOWN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5048" y="2450592"/>
            <a:ext cx="30388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project flow · roles · dashboards · reminders · data persistence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71104" y="1956816"/>
            <a:ext cx="35509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7136" y="2176272"/>
            <a:ext cx="3038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WORKING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8327136" y="2450592"/>
            <a:ext cx="303885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connection · vaults · document handling · estate functions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968496"/>
            <a:ext cx="11055096" cy="1536192"/>
          </a:xfrm>
          <a:prstGeom prst="rect">
            <a:avLst/>
          </a:prstGeom>
          <a:solidFill>
            <a:srgbClr val="071E41"/>
          </a:solidFill>
          <a:ln w="9525">
            <a:solidFill>
              <a:srgbClr val="071E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187952"/>
            <a:ext cx="10543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TODAY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462272"/>
            <a:ext cx="10543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Stabilize the current build, or rebuild around one complete workflow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864608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7D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walkthrough for every screen:  working screen  →  data captured  →  manual workaround  →  break point  →  owner.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ASCEND FAMILY VAULT   ·   AUGUST 27, 2026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10524744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4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PILOT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71E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of 1997: real demand, incomplete economics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862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demand signal is credible. The margin is not yet a number we can stand behind.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3550920" cy="1481328"/>
          </a:xfrm>
          <a:prstGeom prst="rect">
            <a:avLst/>
          </a:prstGeom>
          <a:solidFill>
            <a:srgbClr val="F5F8FC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12848"/>
            <a:ext cx="3038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OFFER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87168"/>
            <a:ext cx="3038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71E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54096"/>
            <a:ext cx="3038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Graduation box, per person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19016" y="2011680"/>
            <a:ext cx="3550920" cy="1481328"/>
          </a:xfrm>
          <a:prstGeom prst="rect">
            <a:avLst/>
          </a:prstGeom>
          <a:solidFill>
            <a:srgbClr val="F5F8FC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5048" y="2212848"/>
            <a:ext cx="3038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ESTIMATE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575048" y="2487168"/>
            <a:ext cx="3038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71E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~$50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575048" y="3054096"/>
            <a:ext cx="3038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Approximate product ideas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71104" y="2011680"/>
            <a:ext cx="3550920" cy="1481328"/>
          </a:xfrm>
          <a:prstGeom prst="rect">
            <a:avLst/>
          </a:prstGeom>
          <a:solidFill>
            <a:srgbClr val="EFF5FF"/>
          </a:solidFill>
          <a:ln w="9525">
            <a:solidFill>
              <a:srgbClr val="D8E6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7136" y="2212848"/>
            <a:ext cx="3038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SPREAD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8327136" y="2487168"/>
            <a:ext cx="3038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71E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8327136" y="3054096"/>
            <a:ext cx="3038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person, before omitted costs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712464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2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not call the $25 spread profit yet — eight costs are still unpriced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6928" y="4133088"/>
            <a:ext cx="261975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4133088"/>
            <a:ext cx="22539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 and duties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78708" y="4133088"/>
            <a:ext cx="261975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61588" y="4133088"/>
            <a:ext cx="22539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labor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90488" y="4133088"/>
            <a:ext cx="261975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73368" y="4133088"/>
            <a:ext cx="22539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02268" y="4133088"/>
            <a:ext cx="261975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85148" y="4133088"/>
            <a:ext cx="22539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 and QA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" y="4736592"/>
            <a:ext cx="261975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9808" y="4736592"/>
            <a:ext cx="22539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Packing and fulfillment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78708" y="4736592"/>
            <a:ext cx="261975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561588" y="4736592"/>
            <a:ext cx="22539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fees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90488" y="4736592"/>
            <a:ext cx="261975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73368" y="4736592"/>
            <a:ext cx="22539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Refunds and rework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002268" y="4736592"/>
            <a:ext cx="2619756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85148" y="4736592"/>
            <a:ext cx="22539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Eric’s project time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" y="5431536"/>
            <a:ext cx="11055096" cy="804672"/>
          </a:xfrm>
          <a:prstGeom prst="rect">
            <a:avLst/>
          </a:prstGeom>
          <a:solidFill>
            <a:srgbClr val="071E41"/>
          </a:solidFill>
          <a:ln w="9525">
            <a:solidFill>
              <a:srgbClr val="071E4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9536" y="5614416"/>
            <a:ext cx="10469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WE APPROVE A PRICE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859536" y="5870448"/>
            <a:ext cx="10469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quantity   ·   minimum order   ·   deposit terms   ·   landed cost   ·   licensing pathway   ·   decision maker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ASCEND FAMILY VAULT   ·   AUGUST 27, 2026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10524744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4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 CASE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71E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Oklahoma land: trust before transactions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862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 case is the reason this concept exists. It is not yet a committed pilot.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2048256"/>
            <a:ext cx="3550920" cy="2048256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67712"/>
            <a:ext cx="3038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42032"/>
            <a:ext cx="3038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E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true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07792"/>
            <a:ext cx="3038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Eric can create the project. The family has not agreed. He expects pushback, because the request involves money and a new process.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19016" y="2048256"/>
            <a:ext cx="3550920" cy="2048256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5048" y="2267712"/>
            <a:ext cx="3038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575048" y="2542032"/>
            <a:ext cx="3038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E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that means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5048" y="2907792"/>
            <a:ext cx="3038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design challenge is consent, clarity and trust — not payment collection or automated ownership.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71104" y="2048256"/>
            <a:ext cx="3550920" cy="2048256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7136" y="2267712"/>
            <a:ext cx="3038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8327136" y="2542032"/>
            <a:ext cx="3038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E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test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27136" y="2907792"/>
            <a:ext cx="3038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one-page family project charter: purpose, benefit, scope, estimated cost, decision method, contribution options, reporting promise and opt-in process.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389120"/>
            <a:ext cx="11055096" cy="1133856"/>
          </a:xfrm>
          <a:prstGeom prst="rect">
            <a:avLst/>
          </a:prstGeom>
          <a:solidFill>
            <a:srgbClr val="071E41"/>
          </a:solidFill>
          <a:ln w="9525">
            <a:solidFill>
              <a:srgbClr val="071E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" y="4572000"/>
            <a:ext cx="10469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859536" y="4828032"/>
            <a:ext cx="10469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family-approved project information. Do not infer or certify legal ownership.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ASCEND FAMILY VAULT   ·   AUGUST 27, 2026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0524744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4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MODEL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71E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engine, two sequenced proving grounds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862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markets, one product. Sequence the tests rather than forcing both into the same launch.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11055096" cy="1133856"/>
          </a:xfrm>
          <a:prstGeom prst="rect">
            <a:avLst/>
          </a:prstGeom>
          <a:solidFill>
            <a:srgbClr val="071E41"/>
          </a:solidFill>
          <a:ln w="9525">
            <a:solidFill>
              <a:srgbClr val="071E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31136"/>
            <a:ext cx="10543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ENGINE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05456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 ·  roles  ·  budget  ·  commitments  ·  tasks  ·  approvals  ·  expenses  ·  progress  ·  closeout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383280"/>
            <a:ext cx="5408676" cy="1755648"/>
          </a:xfrm>
          <a:prstGeom prst="rect">
            <a:avLst/>
          </a:prstGeom>
          <a:solidFill>
            <a:srgbClr val="EFF5FF"/>
          </a:solidFill>
          <a:ln w="9525">
            <a:solidFill>
              <a:srgbClr val="D8E6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602736"/>
            <a:ext cx="48966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Commercial proving ground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986784"/>
            <a:ext cx="489661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of 1997 graduation-box service pilot — tests willingness to pay, sourcing workflow, deposits, cost control, communications and fulfillment.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3348" y="3383280"/>
            <a:ext cx="5408676" cy="1755648"/>
          </a:xfrm>
          <a:prstGeom prst="rect">
            <a:avLst/>
          </a:prstGeom>
          <a:solidFill>
            <a:srgbClr val="F5F8FC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69380" y="3602736"/>
            <a:ext cx="48966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Requirements proving ground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69380" y="3986784"/>
            <a:ext cx="489661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 land case — tests consent, roles, shared decisions, transparency and reporting, without legal-title claims or platform custody of funds.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532180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2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the tests. Do not force both into the same launch.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ASCEND FAMILY VAULT   ·   AUGUST 27, 2026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10524744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4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ENTRY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71E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lead, and what to park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862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candidates, ranked on pain, founder advantage, revenue speed and complexity.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956816"/>
            <a:ext cx="11055096" cy="329184"/>
          </a:xfrm>
          <a:prstGeom prst="rect">
            <a:avLst/>
          </a:prstGeom>
          <a:solidFill>
            <a:srgbClr val="071E41"/>
          </a:solidFill>
          <a:ln w="9525">
            <a:solidFill>
              <a:srgbClr val="071E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956816"/>
            <a:ext cx="20442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3050082" y="1956816"/>
            <a:ext cx="14150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757779" y="1956816"/>
            <a:ext cx="14150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ADVANTAGE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465477" y="1956816"/>
            <a:ext cx="10555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SPEED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7813660" y="1956816"/>
            <a:ext cx="14150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COMPLEXITY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9521357" y="1956816"/>
            <a:ext cx="195436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READ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66928" y="2286000"/>
            <a:ext cx="11055096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2286000"/>
            <a:ext cx="20442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71E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Reunion and Homecoming concierge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050082" y="2286000"/>
            <a:ext cx="14150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for volunteer organizers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757779" y="2286000"/>
            <a:ext cx="14150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65477" y="2286000"/>
            <a:ext cx="10555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term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813660" y="2286000"/>
            <a:ext cx="14150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9521357" y="2286000"/>
            <a:ext cx="195436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71E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commercial proving ground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2852928"/>
            <a:ext cx="11055096" cy="566928"/>
          </a:xfrm>
          <a:prstGeom prst="rect">
            <a:avLst/>
          </a:prstGeom>
          <a:solidFill>
            <a:srgbClr val="F5F8FC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" y="2852928"/>
            <a:ext cx="20442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71E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property improvement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050082" y="2852928"/>
            <a:ext cx="14150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but episodic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757779" y="2852928"/>
            <a:ext cx="14150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authenticity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465477" y="2852928"/>
            <a:ext cx="10555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Slower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813660" y="2852928"/>
            <a:ext cx="14150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9521357" y="2852928"/>
            <a:ext cx="195436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71E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partner and requirements case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19856"/>
            <a:ext cx="11055096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3232" y="3419856"/>
            <a:ext cx="20442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71E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trips and shared goals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3050082" y="3419856"/>
            <a:ext cx="14150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757779" y="3419856"/>
            <a:ext cx="14150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differentiation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465477" y="3419856"/>
            <a:ext cx="10555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Unclear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813660" y="3419856"/>
            <a:ext cx="14150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521357" y="3419856"/>
            <a:ext cx="195436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lead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6928" y="3986784"/>
            <a:ext cx="11055096" cy="566928"/>
          </a:xfrm>
          <a:prstGeom prst="rect">
            <a:avLst/>
          </a:prstGeom>
          <a:solidFill>
            <a:srgbClr val="F5F8FC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13232" y="3986784"/>
            <a:ext cx="20442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71E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or family fund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3050082" y="3986784"/>
            <a:ext cx="14150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Meaningful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4757779" y="3986784"/>
            <a:ext cx="14150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Unproven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465477" y="3986784"/>
            <a:ext cx="10555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Slower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7813660" y="3986784"/>
            <a:ext cx="14150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financial sensitivity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9521357" y="3986784"/>
            <a:ext cx="195436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validation lane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66928" y="4553712"/>
            <a:ext cx="11055096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13232" y="4553712"/>
            <a:ext cx="20442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71E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or startup funding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3050082" y="4553712"/>
            <a:ext cx="14150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Potentially high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4757779" y="4553712"/>
            <a:ext cx="14150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Unproven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465477" y="4553712"/>
            <a:ext cx="10555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term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7813660" y="4553712"/>
            <a:ext cx="14150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 regulatory complexity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9521357" y="4553712"/>
            <a:ext cx="195436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 from initial MVP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66928" y="5029200"/>
            <a:ext cx="11055096" cy="859536"/>
          </a:xfrm>
          <a:prstGeom prst="rect">
            <a:avLst/>
          </a:prstGeom>
          <a:solidFill>
            <a:srgbClr val="F5F8FC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59536" y="5212080"/>
            <a:ext cx="10469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0B2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PARKING LOT RULE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859536" y="5468112"/>
            <a:ext cx="1046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B2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valuable idea does not have to enter the MVP. Capture it, name the evidence it would require, and assign a review date.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ASCEND FAMILY VAULT   ·   AUGUST 27, 2026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10524744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4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DEFINITION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71E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MVP boundary: in, and deliberately out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862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MVP must reduce organizer burden and increase participant confidence. It does not need to become a bank, title company or marketplace.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5390388" cy="3200400"/>
          </a:xfrm>
          <a:prstGeom prst="rect">
            <a:avLst/>
          </a:prstGeom>
          <a:solidFill>
            <a:srgbClr val="EFF5FF"/>
          </a:solidFill>
          <a:ln w="9525">
            <a:solidFill>
              <a:srgbClr val="D8E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31636" y="2103120"/>
            <a:ext cx="5390388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322576"/>
            <a:ext cx="48417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3978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FIRST TESTABLE WORKFLOW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505956" y="2322576"/>
            <a:ext cx="48417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EXPLICITLY LATER, OR OUT OF SCOPE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670048"/>
            <a:ext cx="48417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—"/>
            </a:pPr>
            <a:r>
              <a:rPr lang="en-US" sz="1100" dirty="0">
                <a:solidFill>
                  <a:srgbClr val="0B2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setup — goal, target, dates, milestones, organizer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—"/>
            </a:pPr>
            <a:r>
              <a:rPr lang="en-US" sz="1100" dirty="0">
                <a:solidFill>
                  <a:srgbClr val="0B2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roles — organizer, approver, contributor, viewer, vendor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—"/>
            </a:pPr>
            <a:r>
              <a:rPr lang="en-US" sz="1100" dirty="0">
                <a:solidFill>
                  <a:srgbClr val="0B2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 ledger — amount, due date, status, reminders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—"/>
            </a:pPr>
            <a:r>
              <a:rPr lang="en-US" sz="1100" dirty="0">
                <a:solidFill>
                  <a:srgbClr val="0B2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and expense log — approved, actual, receipt, remaining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—"/>
            </a:pPr>
            <a:r>
              <a:rPr lang="en-US" sz="1100" dirty="0">
                <a:solidFill>
                  <a:srgbClr val="0B2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and decision log — owner, due date, approval, evidence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—"/>
            </a:pPr>
            <a:r>
              <a:rPr lang="en-US" sz="1100" dirty="0">
                <a:solidFill>
                  <a:srgbClr val="0B2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dashboard — milestones, variance, updates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—"/>
            </a:pPr>
            <a:r>
              <a:rPr lang="en-US" sz="1100" dirty="0">
                <a:solidFill>
                  <a:srgbClr val="0B2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Closeout — final budget, open items, archive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505956" y="2670048"/>
            <a:ext cx="48417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—"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legal ownership determination from deeds or probate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—"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Ascend custody of pooled money, stored value or direct lending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—"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returns, securities matching or a fundraising marketplace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—"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broad vendor marketplace before repeatable demand exists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—"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ownership, travel operations or unlicensed institutional marks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—"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recommendations on sensitive family data without consent and governance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550468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B2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job to be done: help an organizer turn one shared objective into a transparent plan participants can understand, support, monitor and complete.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ASCEND FAMILY VAULT   ·   AUGUST 27, 2026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524744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4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ARCHITECTURE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71E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guardrails to confirm today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862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design decisions, not reasons to stop. Define the boundary early, then validate it with qualified counsel.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2029968"/>
            <a:ext cx="5390388" cy="1371600"/>
          </a:xfrm>
          <a:prstGeom prst="rect">
            <a:avLst/>
          </a:prstGeom>
          <a:solidFill>
            <a:srgbClr val="F5F8FC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49424"/>
            <a:ext cx="48783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3978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23744"/>
            <a:ext cx="48783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71E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Ownership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07792"/>
            <a:ext cx="48783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Family-supplied project allocations are not automatically verified legal title. Display them with clear status and source.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1636" y="2029968"/>
            <a:ext cx="539038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87668" y="2249424"/>
            <a:ext cx="48783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3978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487668" y="2523744"/>
            <a:ext cx="48783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71E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87668" y="2907792"/>
            <a:ext cx="48783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qualified payment infrastructure. Do not assume Ascend should hold pooled funds or stored value.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621024"/>
            <a:ext cx="539038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840480"/>
            <a:ext cx="48783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3978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114800"/>
            <a:ext cx="48783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71E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498848"/>
            <a:ext cx="48783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only what is needed. Define access, consent, retention, deletion and prohibited uses before launch.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31636" y="3621024"/>
            <a:ext cx="5390388" cy="1371600"/>
          </a:xfrm>
          <a:prstGeom prst="rect">
            <a:avLst/>
          </a:prstGeom>
          <a:solidFill>
            <a:srgbClr val="F5F8FC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87668" y="3840480"/>
            <a:ext cx="48783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3978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487668" y="4114800"/>
            <a:ext cx="48783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71E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Partners and capital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87668" y="4498848"/>
            <a:ext cx="48783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permission-based introductions. Do not sell family financial data or promise outcomes.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5193792"/>
            <a:ext cx="11055096" cy="969264"/>
          </a:xfrm>
          <a:prstGeom prst="rect">
            <a:avLst/>
          </a:prstGeom>
          <a:solidFill>
            <a:srgbClr val="071E41"/>
          </a:solidFill>
          <a:ln w="9525">
            <a:solidFill>
              <a:srgbClr val="071E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9536" y="5376672"/>
            <a:ext cx="10469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GUARDRAIL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859536" y="5632704"/>
            <a:ext cx="10469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Ascend records family-approved information and project activity. It does not determine legal ownership, provide legal advice, hold client funds or promise financial outcomes.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ASCEND FAMILY VAULT   ·   AUGUST 27, 2026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10524744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4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CAPACITY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71E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rights and realistic ownership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862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who decides, who builds, who validates and who protects each workstream.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2612898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31136"/>
            <a:ext cx="21008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05456"/>
            <a:ext cx="2100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71E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Eric Rice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07792"/>
            <a:ext cx="210083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vision · domain process · family and alumni access · vendor relationships · final decisions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0994" y="2011680"/>
            <a:ext cx="2612898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37026" y="2231136"/>
            <a:ext cx="21008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ADVISER · 1+ HR/WEEK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3637026" y="2505456"/>
            <a:ext cx="2100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71E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Isaiah Harrison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37026" y="2907792"/>
            <a:ext cx="210083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and software assessment · prototype inventory · technical recommendations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95060" y="2011680"/>
            <a:ext cx="2612898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51092" y="2231136"/>
            <a:ext cx="21008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GROWTH PARTNERS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451092" y="2505456"/>
            <a:ext cx="2100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71E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Dana Ammons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51092" y="2907792"/>
            <a:ext cx="210083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· validation design · commercial model · operating discipline · decision documentation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09126" y="2011680"/>
            <a:ext cx="2612898" cy="2468880"/>
          </a:xfrm>
          <a:prstGeom prst="rect">
            <a:avLst/>
          </a:prstGeom>
          <a:solidFill>
            <a:srgbClr val="F5F8FC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65158" y="2231136"/>
            <a:ext cx="21008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 TODAY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9265158" y="2505456"/>
            <a:ext cx="2100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71E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Serena Boykin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265158" y="2907792"/>
            <a:ext cx="210083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role, access, confidentiality and decision authority still to be confirmed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4754880"/>
            <a:ext cx="11055096" cy="914400"/>
          </a:xfrm>
          <a:prstGeom prst="rect">
            <a:avLst/>
          </a:prstGeom>
          <a:solidFill>
            <a:srgbClr val="EFF5FF"/>
          </a:solidFill>
          <a:ln w="9525">
            <a:solidFill>
              <a:srgbClr val="D8E6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9536" y="4937760"/>
            <a:ext cx="10469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GUARDRAIL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859536" y="5193792"/>
            <a:ext cx="10469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B2D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hour per week is advisory capacity — not a development team. Confirm decision rights, IP ownership and who is accountable for the build.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ASCEND FAMILY VAULT   ·   AUGUST 27, 2026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10524744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4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PLAN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71E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Ninety days to a build, partner or pause decision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862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stage ends at a gate. The gate is passed with evidence, not enthusiasm.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1728216" cy="2798064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212848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71E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1–14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468880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27 – Sep 9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798064"/>
            <a:ext cx="13624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B2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 the concept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602736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840480"/>
            <a:ext cx="1362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one lead wedge and positioning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32304" y="2011680"/>
            <a:ext cx="1728216" cy="2798064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15184" y="2212848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71E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15–30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615184" y="2468880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10 – Sep 25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2615184" y="2798064"/>
            <a:ext cx="13624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B2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validation system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615184" y="3602736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2615184" y="3840480"/>
            <a:ext cx="1362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top workflows and pilot concept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97680" y="2011680"/>
            <a:ext cx="1728216" cy="2798064"/>
          </a:xfrm>
          <a:prstGeom prst="rect">
            <a:avLst/>
          </a:prstGeom>
          <a:solidFill>
            <a:srgbClr val="EFF5FF"/>
          </a:solidFill>
          <a:ln w="9525">
            <a:solidFill>
              <a:srgbClr val="D8E6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80560" y="2212848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71E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31–45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2468880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26 – Oct 10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2798064"/>
            <a:ext cx="13624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B2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field test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480560" y="3602736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3840480"/>
            <a:ext cx="1362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whether demand supports a paid pilot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63056" y="2011680"/>
            <a:ext cx="1728216" cy="2798064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45936" y="2212848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71E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46–60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345936" y="2468880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11 – Oct 26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345936" y="2798064"/>
            <a:ext cx="13624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B2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evidence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345936" y="3602736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6345936" y="3840480"/>
            <a:ext cx="1362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pilot scope, architecture and terms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28432" y="2011680"/>
            <a:ext cx="1728216" cy="2798064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11312" y="2212848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71E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61–75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8211312" y="2468880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27 – Nov 10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211312" y="2798064"/>
            <a:ext cx="13624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B2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 the pilot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11312" y="3602736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8211312" y="3840480"/>
            <a:ext cx="1362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burden reduction and repeatability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893808" y="2011680"/>
            <a:ext cx="1728216" cy="2798064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076688" y="2212848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71E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76–90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10076688" y="2468880"/>
            <a:ext cx="1362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11 – Nov 25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0076688" y="2798064"/>
            <a:ext cx="13624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B2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and capital decision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10076688" y="3602736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10076688" y="3840480"/>
            <a:ext cx="1362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Bootstrap, partner, accelerate, fundraise or pause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66928" y="5029200"/>
            <a:ext cx="11055096" cy="1060704"/>
          </a:xfrm>
          <a:prstGeom prst="rect">
            <a:avLst/>
          </a:prstGeom>
          <a:solidFill>
            <a:srgbClr val="071E41"/>
          </a:solidFill>
          <a:ln w="9525">
            <a:solidFill>
              <a:srgbClr val="071E4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59536" y="5212080"/>
            <a:ext cx="10469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TARGETS BY NOVEMBER 25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859536" y="5468112"/>
            <a:ext cx="10469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75+ survey responses   ·   15 interviews   ·   5 qualified pilot candidates   ·   2 written commitments   ·   1 paid or fully scoped pilot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ASCEND FAMILY VAULT   ·   AUGUST 27, 2026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10524744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4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20624"/>
            <a:ext cx="11055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BOARD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71E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decisions to make before we close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8622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decision is made when it has a named answer, an owner and a review date.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2048256"/>
            <a:ext cx="3532632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4942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978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33472"/>
            <a:ext cx="3020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71E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customer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62656"/>
            <a:ext cx="3020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of 1997, a family organizer, or another affinity group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28160" y="2048256"/>
            <a:ext cx="3532632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84192" y="224942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978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584192" y="2633472"/>
            <a:ext cx="3020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71E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complete workflow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84192" y="2962656"/>
            <a:ext cx="3020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setup through closeout — what must work end to end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89392" y="2048256"/>
            <a:ext cx="3532632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45424" y="224942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978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345424" y="2633472"/>
            <a:ext cx="3020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71E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path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962656"/>
            <a:ext cx="3020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Stabilize the current build, or rebuild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3986784"/>
            <a:ext cx="3532632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18795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978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572000"/>
            <a:ext cx="3020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71E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economics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901184"/>
            <a:ext cx="3020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Quantity, deposit, landed cost, labor and approvals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28160" y="3986784"/>
            <a:ext cx="3532632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84192" y="418795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978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4584192" y="4572000"/>
            <a:ext cx="3020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71E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posture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4584192" y="4901184"/>
            <a:ext cx="3020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Payments, ownership records, sensitive data and partner access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89392" y="3986784"/>
            <a:ext cx="3532632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E5EAF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45424" y="418795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978D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345424" y="4572000"/>
            <a:ext cx="3020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71E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model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8345424" y="4901184"/>
            <a:ext cx="3020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rights, IP, weekly capacity and outside experts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5797296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2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Anything we cannot resolve today leaves this room with an owner, an evidence request and a date.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ASCEND FAMILY VAULT   ·   AUGUST 27, 2026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10524744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4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E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C89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59536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 seven days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543032" cy="640080"/>
          </a:xfrm>
          <a:prstGeom prst="rect">
            <a:avLst/>
          </a:prstGeom>
          <a:solidFill>
            <a:srgbClr val="0B2D57"/>
          </a:solidFill>
          <a:ln w="9525">
            <a:solidFill>
              <a:srgbClr val="1E3C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8992" y="18288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9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627632" y="18288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ERIC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182112" y="1828800"/>
            <a:ext cx="7927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access  ·  Class of 1997 order assumptions  ·  Oklahoma project inputs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596896"/>
            <a:ext cx="10543032" cy="640080"/>
          </a:xfrm>
          <a:prstGeom prst="rect">
            <a:avLst/>
          </a:prstGeom>
          <a:solidFill>
            <a:srgbClr val="0B2D57"/>
          </a:solidFill>
          <a:ln w="9525">
            <a:solidFill>
              <a:srgbClr val="1E3C6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78992" y="2596896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9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627632" y="259689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ISAIAH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182112" y="2596896"/>
            <a:ext cx="7927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audit  ·  stabilize-versus-rebuild recommendation  ·  one-hour weekly plan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364992"/>
            <a:ext cx="10543032" cy="640080"/>
          </a:xfrm>
          <a:prstGeom prst="rect">
            <a:avLst/>
          </a:prstGeom>
          <a:solidFill>
            <a:srgbClr val="0B2D57"/>
          </a:solidFill>
          <a:ln w="9525">
            <a:solidFill>
              <a:srgbClr val="1E3C6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78992" y="336499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9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627632" y="336499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182112" y="3364992"/>
            <a:ext cx="7927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summary  ·  interview guide  ·  evidence tracker  ·  pilot scope framework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133088"/>
            <a:ext cx="10543032" cy="640080"/>
          </a:xfrm>
          <a:prstGeom prst="rect">
            <a:avLst/>
          </a:prstGeom>
          <a:solidFill>
            <a:srgbClr val="0B2D57"/>
          </a:solidFill>
          <a:ln w="9525">
            <a:solidFill>
              <a:srgbClr val="1E3C6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78992" y="413308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9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627632" y="413308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182112" y="4133088"/>
            <a:ext cx="7927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weekly cadence  ·  shared source of truth  ·  next decision date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193792"/>
            <a:ext cx="10543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will Ascend deliberately not build, not promise and not pursue during the next 90 days?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8FA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ASCEND FAMILY VAULT   ·   AUGUST 27, 2026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0524744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40" kern="0" dirty="0">
                <a:solidFill>
                  <a:srgbClr val="8FA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Value Growth Partners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Ascend Family Vault — Updated Working Session</dc:title>
  <dc:subject>PptxGenJS Presentation</dc:subject>
  <dc:creator>Dana Ammons · Value Growth Partners</dc:creator>
  <cp:lastModifiedBy>Dana Ammons · Value Growth Partners</cp:lastModifiedBy>
  <cp:revision>1</cp:revision>
  <dcterms:created xsi:type="dcterms:W3CDTF">2026-08-27T17:19:07Z</dcterms:created>
  <dcterms:modified xsi:type="dcterms:W3CDTF">2026-08-27T17:19:07Z</dcterms:modified>
</cp:coreProperties>
</file>